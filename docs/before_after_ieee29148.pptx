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9B4FA"/>
                </a:solidFill>
              </a:rP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1 cerință proastă  →  3 cerințe IEEE 29148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AC2DE"/>
                </a:solidFill>
              </a:rPr>
              <a:t>Cum arată diferența concret, pe un exemplu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566160"/>
            <a:ext cx="3959352" cy="36576"/>
          </a:xfrm>
          <a:prstGeom prst="rect">
            <a:avLst/>
          </a:prstGeom>
          <a:solidFill>
            <a:srgbClr val="89B4FA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38BA8"/>
                </a:solidFill>
              </a:rPr>
              <a:t>BEFORE — 1 cerință (prea mare, prea vagă, câmpuri lipsă)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38BA8"/>
                </a:solidFill>
              </a:rPr>
              <a:t>Problemele identificate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7132320" cy="6126480"/>
          </a:xfrm>
          <a:prstGeom prst="rect">
            <a:avLst/>
          </a:prstGeom>
          <a:solidFill>
            <a:srgbClr val="1A1B2A"/>
          </a:solidFill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CCCC"/>
                </a:solidFill>
              </a:rPr>
              <a:t>---
id: AUTH-001
status: confirmed
owner: Alex
---
# User Authentication
&gt; WHY: users need to log in and manage their accounts.
## WHAT — Contract
- The system shall allow users to log in with
  email and password, reset their password via
  email link, and automatically log out after
  30 minutes of inactivity.
- It shall also rate-limit failed attempts and
  lock the account after 5 failures.
- Error messages shall be user-friendly and not
  reveal security details.
## HOW — Acceptance (= tests)
AC-1  valid login → token returned
AC-2  wrong password → error shown
AC-3  password reset email sent
AC-4  reset link expires after 24h
AC-5  session expires after 30min inactivity
AC-6  5 failed attempts → account locked
AC-7  locked account → informative message shown
AC-8  rate limiter blocks &gt;10 req/min per IP
AC-9  error message doesn't reveal if email exists
AC-10 locked account can be unlocked by admin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669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Singular VIOLAT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'shall allow ... log in AND reset ... AND log out' = 3 capabilități diferite într-un singur bullet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527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10 AC (max recomandat: 7)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Semnalul clar că cerința acoperă prea mult — ar trebui ≥3 cerințe separate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385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Source lipsă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Nu știm cine a cerut asta (Product Owner? Legal? Security team?)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243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Priority lipsă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Login și rate-limiting au priorități diferite — nu se pot planifica separat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3101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Feasibility lipsă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Nu există estimare de complexitate / risc tehnic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959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Rationale per statement lipsă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De ce 30 min? De ce 5 încercări? Nu există justificare per regulă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6817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8BA8"/>
                </a:solidFill>
              </a:rPr>
              <a:t>✗  Verifiable method lipsă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AC-7 și AC-9 se testează manual sau automat? Nu e declarat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367528"/>
            <a:ext cx="4206240" cy="64008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⚠  Unambiguous parțial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'user-friendly' este vag — nu există criteriu testabil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9B4FA"/>
                </a:solidFill>
              </a:rPr>
              <a:t>Cum se împarte: 1 → 3 cerințe atomice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291840" cy="4114800"/>
          </a:xfrm>
          <a:prstGeom prst="rect">
            <a:avLst/>
          </a:prstGeom>
          <a:solidFill>
            <a:srgbClr val="1A1B2A"/>
          </a:solidFill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38BA8"/>
                </a:solidFill>
              </a:rPr>
              <a:t>AUTH-001
(original)</a:t>
            </a:r>
          </a:p>
          <a:p>
            <a:pPr algn="l"/>
            <a:r>
              <a:rPr sz="1100" b="0">
                <a:solidFill>
                  <a:srgbClr val="BAC2DE"/>
                </a:solidFill>
              </a:rPr>
              <a:t>
• Login cu email/parola
• Reset parola via email
• Logout automat 30min
• Rate-limit attempts
• Lock dupa 5 fail-uri
• Error messages
10 AC
0 câmpuri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476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E2AF"/>
                </a:solidFill>
              </a:rPr>
              <a:t>split
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822960"/>
            <a:ext cx="6858000" cy="160020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AUTH-LOGIN-001 — User Login</a:t>
            </a:r>
          </a:p>
          <a:p>
            <a:pPr algn="l"/>
            <a:r>
              <a:rPr sz="1000" b="0">
                <a:solidFill>
                  <a:srgbClr val="BAC2DE"/>
                </a:solidFill>
              </a:rPr>
              <a:t>Capabilitate: autentificare cu
email + parola
• source: Product Owner
• priority: must
• feasibility: high
3 AC (login ok, login fail,
enum protection)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651760"/>
            <a:ext cx="6858000" cy="160020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AUTH-RESET-002 — Password Reset</a:t>
            </a:r>
          </a:p>
          <a:p>
            <a:pPr algn="l"/>
            <a:r>
              <a:rPr sz="1000" b="0">
                <a:solidFill>
                  <a:srgbClr val="BAC2DE"/>
                </a:solidFill>
              </a:rPr>
              <a:t>Capabilitate: resetare parola
via link email
• source: Product Owner
• priority: must
• feasibility: medium
3 AC (link trimis, link expirat,
parola schimbata)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480560"/>
            <a:ext cx="6858000" cy="160020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BA6F7"/>
                </a:solidFill>
              </a:rPr>
              <a:t>AUTH-SESSION-003 — Session &amp; Rate Limiting</a:t>
            </a:r>
          </a:p>
          <a:p>
            <a:pPr algn="l"/>
            <a:r>
              <a:rPr sz="1000" b="0">
                <a:solidFill>
                  <a:srgbClr val="BAC2DE"/>
                </a:solidFill>
              </a:rPr>
              <a:t>Capabilitate: expirare sesiune
+ rate-limit + lock cont
• source: Security Team
• priority: should
• feasibility: high
4 AC (timeout, rate-limit,
lock, admin unlock)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AC2DE"/>
                </a:solidFill>
              </a:rPr>
              <a:t>Fiecare cerință are o singură capabilitate, câmpuri complete și ≤7 AC — lint trece fără avertizări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AFTER — Cerința 1/3:  AUTH-LOGIN-001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6E3A1"/>
                </a:solidFill>
              </a:rPr>
              <a:t>Ce s-a adăugat față de 'before'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5669280" cy="6172200"/>
          </a:xfrm>
          <a:prstGeom prst="rect">
            <a:avLst/>
          </a:prstGeom>
          <a:solidFill>
            <a:srgbClr val="1A1B2A"/>
          </a:solidFill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A6E3A1"/>
                </a:solidFill>
              </a:rPr>
              <a:t>---
id:          AUTH-LOGIN-001
title:       User login with email/password
status:      confirmed
layer:       feature
owner:       Alex
source:      Product Owner — sprint 2026-05-01
priority:    must
feasibility: high
depends_on:  [CORE-SESSION-002]
---
# User login
&gt; WHY: users need to reach their own data securely.
&gt; SOURCE RATIONALE: login is the primary entry point
&gt;   per product spec v1.2, section 3.
## WHAT — Contract (normative)
- [S1] The system shall authenticate a registered user
  via email address and password and return a signed
  session token within 2 seconds under normal load.
  Rationale: 2s SLA from UX research — abandonment
  spikes above this threshold.
- [S2] The system shall reject an unregistered email
  with a generic HTTP 401 error without revealing
  whether the email address exists in the system.
  Rationale: prevents user-enumeration (OWASP A2).
## HOW — Acceptance
AC-1  [verifiable by: automated test]
  Given  registered user, correct credentials
  When   POST /auth/login
  Then   HTTP 200, signed JWT, latency &lt; 2s
AC-2  [verifiable by: automated test]
  Given  wrong password
  When   POST /auth/login
  Then   HTTP 401, generic error body
AC-3  [verifiable by: security test]
  Given  attacker with known/unknown emails
  When   50 login attempts, mixed valid/invalid
  Then   response time and body are identical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53035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title: câmp nou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Titlu lizibil separat de id — util în rapoarte și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12471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source: câmp nou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Product Owner, sprint, dată — știm exact cine a cerut-o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1907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priority: must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Planificabil: login e 'must', alte cerinte pot fi 'should'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31343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feasibility: high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Echipa de dev știe că nu există risc tehnic major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907791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SOURCE RATIONALE: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De ce există cerința — legătură la spec extern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02151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Rationale: per statement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S1: de ce 2s? S2: de ce generic error? Justificat inline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096511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[S1], [S2] sub-ids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Fiecare statement are un id propriu pentru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69087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[verifiable by: ...]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Metoda de verificare declarată pe fiecare 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28523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Singular respectat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O singură capabilitate: login. Reset și session = cerinte separate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879592"/>
            <a:ext cx="5943600" cy="54864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3 AC (era 10 în 'before')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Compact, testabil, fără overlap cu celelalte cerinte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6E3A1"/>
                </a:solidFill>
              </a:rPr>
              <a:t>AFTER — Cerința 2/3:  AUTH-RESET-002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6E3A1"/>
                </a:solidFill>
              </a:rPr>
              <a:t>Observații 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5669280" cy="6172200"/>
          </a:xfrm>
          <a:prstGeom prst="rect">
            <a:avLst/>
          </a:prstGeom>
          <a:solidFill>
            <a:srgbClr val="1A1B2A"/>
          </a:solidFill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A6E3A1"/>
                </a:solidFill>
              </a:rPr>
              <a:t>---
id:          AUTH-RESET-002
title:       Password reset via email link
status:      confirmed
layer:       feature
owner:       Alex
source:      Product Owner — sprint 2026-05-01
priority:    must
feasibility: medium
depends_on:  [AUTH-LOGIN-001, CORE-EMAIL-005]
---
# Password reset
&gt; WHY: users who forget their password need a
&gt;   secure, self-service recovery path.
&gt; SOURCE RATIONALE: reduces support tickets —
&gt;   currently 30% of support volume per ops report.
## WHAT — Assumptions &amp; constraints
- Assumes SMTP delivery is reliable (CORE-EMAIL-005).
- Out of scope: social login / OAuth recovery.
## WHAT — Contract (normative)
- [S1] The system shall send a password-reset link
  to the registered email address within 60 seconds
  of a valid reset request.
  Rationale: 60s balances SMTP latency with UX
  expectations (user research Q1-2026).
- [S2] The system shall invalidate the reset link
  after 24 hours or after first use, whichever
  comes first.
  Rationale: limits attack window per OWASP A7.
## HOW — Acceptance
AC-1  [verifiable by: automated test]
  Given  registered email
  When   POST /auth/reset-request
  Then   email received within 60s, HTTP 202
AC-2  [verifiable by: automated test]
  Given  a valid reset link
  When   used once, then used again
  Then   second use returns HTTP 410 Gone
AC-3  [verifiable by: automated test]
  Given  a reset link older than 24 hours
  When   accessed
  Then   HTTP 410 Gone, no password change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530352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Assumptions &amp; constraints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SMTP dependency declarată explicit — Socrate ar fi mulțumit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234440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'Out of scope' declarat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OAuth recovery exclusă explicit — previne scope creep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38528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source + priority separate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priority: must — la fel ca login; planificabil în același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42616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feasibility: medium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SMTP integration adaugă risc — echipa știe din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346704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Rationale: per statement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S1: de ce 60s? S2: de ce 24h? Fiecare număr magic are justificare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050791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depends_on: explicit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Depinde de AUTH-LOGIN-001 și CORE-EMAIL-005 — graf clar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754879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3 AC clare, fără overlap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Fiecare AC testează un singur behavior; nu există AC duplicate cu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458967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Singular respectat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Doar reset. Login și session management = cerinte separate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BA6F7"/>
                </a:solidFill>
              </a:rPr>
              <a:t>AFTER — Cerința 3/3:  AUTH-SESSION-003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BA6F7"/>
                </a:solidFill>
              </a:rPr>
              <a:t>Observații 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5669280" cy="6172200"/>
          </a:xfrm>
          <a:prstGeom prst="rect">
            <a:avLst/>
          </a:prstGeom>
          <a:solidFill>
            <a:srgbClr val="1A1B2A"/>
          </a:solidFill>
        </p:spPr>
        <p:txBody>
          <a:bodyPr wrap="square">
            <a:spAutoFit/>
          </a:bodyPr>
          <a:lstStyle/>
          <a:p>
            <a:pPr algn="l"/>
            <a:r>
              <a:rPr sz="930" b="0">
                <a:solidFill>
                  <a:srgbClr val="CBA6F7"/>
                </a:solidFill>
              </a:rPr>
              <a:t>---
id:          AUTH-SESSION-003
title:       Session expiry and brute-force protection
status:      confirmed
layer:       feature
owner:       Alex
source:      Security Team — threat model review 2026-04
priority:    should
feasibility: high
depends_on:  [AUTH-LOGIN-001]
---
# Session &amp; rate limiting
&gt; WHY: protect accounts from brute-force and
&gt;   session-hijacking attacks.
&gt; SOURCE RATIONALE: security team threat model
&gt;   identified session persistence and BF as
&gt;   top-2 risks for the auth surface.
## WHAT — Assumptions &amp; constraints
- Rate limiting operates at IP + account level.
- Admin unlock is out of scope for v1 (manual DB).
## WHAT — Contract (normative)
- [S1] The system shall invalidate a session token
  after 30 minutes of inactivity.
  Rationale: NIST SP 800-63B recommends ≤30min
  idle timeout for moderate assurance level.
- [S2] The system shall block login attempts from
  an IP address for 15 minutes after 10 failed
  attempts within any 5-minute window.
  Rationale: limits BF to &lt;100 attempts/hour
  per IP (threat model TM-AUTH-02).
- [S3] The system shall lock an account after
  5 consecutive failed login attempts and require
  admin action to unlock.
  Rationale: account-level lock prevents
  distributed BF across many IPs.
## HOW — Acceptance
AC-1  [verifiable by: automated test]
  Given  authenticated session
  When   no activity for 31 minutes
  Then   next request returns HTTP 401
AC-2  [verifiable by: load test]
  Given  single IP
  When   11 failed logins within 5 minutes
  Then   IP blocked for 15min, HTTP 429
AC-3  [verifiable by: automated test]
  Given  an account
  When   5 consecutive wrong passwords
  Then   account locked, subsequent attempts
         return HTTP 423 regardless of password
AC-4  [verifiable by: manual test]
  Given  a locked account
  When   admin calls DELETE /admin/lock/{userId}
  Then   account unlocked, login works again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530352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BA6F7"/>
                </a:solidFill>
              </a:rPr>
              <a:t>✓  source: Security Team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Sursa diferita fata de login/reset (Product Owner) — prioritate si context diferit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234440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BA6F7"/>
                </a:solidFill>
              </a:rPr>
              <a:t>✓  priority: should (nu must)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Rate-limiting e important dar nu blocant pentru MVP — planificabil separat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38528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Rationale cu referinte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S1: NIST SP 800-63B citat explicit. S2: threat model TM-AUTH-02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42616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Assumptions: Admin unlock v1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'manual DB' declarat explicit — nu o surpriza pentru tester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346704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4 AC, fiecare cu metoda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AC-2: load test (nu unit test!). AC-4: manual test — metode distincte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050791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E3A1"/>
                </a:solidFill>
              </a:rPr>
              <a:t>✓  Singular: 3 statements legate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Toate privesc protectia sesiunii/BF — o singura capabilitate coerenta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754879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depends_on: AUTH-LOGIN-001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Nu poate exista fara login — graful de dependente e corect si complet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458967"/>
            <a:ext cx="5943600" cy="658368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E2AF"/>
                </a:solidFill>
              </a:rPr>
              <a:t>◈  'Admin unlock out of scope v1'</a:t>
            </a:r>
          </a:p>
          <a:p>
            <a:pPr algn="l"/>
            <a:r>
              <a:rPr sz="900" b="0">
                <a:solidFill>
                  <a:srgbClr val="BAC2DE"/>
                </a:solidFill>
              </a:rPr>
              <a:t>Declarat explicit, nu lasat vag. Urmatoarea versiune stie exact ce sa faca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9B4FA"/>
                </a:solidFill>
              </a:rPr>
              <a:t>Comparație directă: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9B4FA"/>
                </a:solidFill>
              </a:rPr>
              <a:t>Criteriu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548640"/>
            <a:ext cx="2011680" cy="502920"/>
          </a:xfrm>
          <a:prstGeom prst="rect">
            <a:avLst/>
          </a:prstGeom>
          <a:solidFill>
            <a:srgbClr val="505080"/>
          </a:solidFill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BEFORE
AUTH-001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548640"/>
            <a:ext cx="2011680" cy="50292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9B4FA"/>
                </a:solidFill>
              </a:rPr>
              <a:t>AFTER
AUTH-LOGIN-001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548640"/>
            <a:ext cx="2011680" cy="50292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9B4FA"/>
                </a:solidFill>
              </a:rPr>
              <a:t>AFTER
AUTH-RESET-002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548640"/>
            <a:ext cx="2560320" cy="50292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9B4FA"/>
                </a:solidFill>
              </a:rPr>
              <a:t>AFTER
AUTH-SESSION-003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Singular (1 capabilitate)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15568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3 în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115568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login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115568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reset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115568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session/BF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499616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Număr 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499616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10 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499616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3 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499616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3 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499616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4 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883664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source: (cine a cerut)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883664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883664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Product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883664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Product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883664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Security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267712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priority: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267712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267712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267712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67712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should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651760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feasibility: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651760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651760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651760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651760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035808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Rationale per statement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035808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035808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S1, S2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35808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S1, S2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035808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S1, S2, 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419856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[verifiable by:] per 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419856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419856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toate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419856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toate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419856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toate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803904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Assumptions &amp; constraints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803904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803904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AC2DE"/>
                </a:solidFill>
              </a:rPr>
              <a:t>—  n/a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803904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SMTP, 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3803904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IP+acct, v1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187952"/>
            <a:ext cx="29260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depends_on explicit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4187952"/>
            <a:ext cx="2011680" cy="365760"/>
          </a:xfrm>
          <a:prstGeom prst="rect">
            <a:avLst/>
          </a:prstGeom>
          <a:solidFill>
            <a:srgbClr val="352028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8BA8"/>
                </a:solidFill>
              </a:rPr>
              <a:t>✗  lipsă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187952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CORE-SESSION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187952"/>
            <a:ext cx="201168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LOGIN +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187952"/>
            <a:ext cx="2560320" cy="365760"/>
          </a:xfrm>
          <a:prstGeom prst="rect">
            <a:avLst/>
          </a:prstGeom>
          <a:solidFill>
            <a:srgbClr val="2A2B3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✓  LOGIN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4572000"/>
            <a:ext cx="2926080" cy="475488"/>
          </a:xfrm>
          <a:prstGeom prst="rect">
            <a:avLst/>
          </a:prstGeom>
          <a:solidFill>
            <a:srgbClr val="283028"/>
          </a:solidFill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E3A1"/>
                </a:solidFill>
              </a:rPr>
              <a:t>Număr cerinte IEEE 29148 acoperite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572000"/>
            <a:ext cx="2011680" cy="475488"/>
          </a:xfrm>
          <a:prstGeom prst="rect">
            <a:avLst/>
          </a:prstGeom>
          <a:solidFill>
            <a:srgbClr val="283028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E2AF"/>
                </a:solidFill>
              </a:rPr>
              <a:t>~4/13  (31%)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572000"/>
            <a:ext cx="2011680" cy="475488"/>
          </a:xfrm>
          <a:prstGeom prst="rect">
            <a:avLst/>
          </a:prstGeom>
          <a:solidFill>
            <a:srgbClr val="283028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~11/13  (85%)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572000"/>
            <a:ext cx="2011680" cy="475488"/>
          </a:xfrm>
          <a:prstGeom prst="rect">
            <a:avLst/>
          </a:prstGeom>
          <a:solidFill>
            <a:srgbClr val="283028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~12/13  (92%)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572000"/>
            <a:ext cx="2560320" cy="475488"/>
          </a:xfrm>
          <a:prstGeom prst="rect">
            <a:avLst/>
          </a:prstGeom>
          <a:solidFill>
            <a:srgbClr val="283028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~12/13  (92%)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