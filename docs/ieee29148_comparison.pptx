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89B4FA"/>
                </a:solidFill>
              </a:rPr>
              <a:t>Cum arată un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dacă respectă ≥80% din IEEE 29148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AC2DE"/>
                </a:solidFill>
              </a:rPr>
              <a:t>Comparație: format actual  →  format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246120"/>
            <a:ext cx="4873752" cy="25400"/>
          </a:xfrm>
          <a:prstGeom prst="rect">
            <a:avLst/>
          </a:prstGeom>
          <a:solidFill>
            <a:srgbClr val="89B4FA"/>
          </a:solidFill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AC2DE"/>
                </a:solidFill>
              </a:rPr>
              <a:t>IEEE 29148:2018 — Systems and Software Engineering — Life cycle processes — Requirements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IEEE 29148 — Cele 9 caracteristici ale unui requirement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1  Necessary</a:t>
            </a:r>
          </a:p>
          <a:p>
            <a:r>
              <a:rPr sz="1100" b="0">
                <a:solidFill>
                  <a:srgbClr val="BAC2DE"/>
                </a:solidFill>
              </a:rPr>
              <a:t>Lipsa lui creează un deficit real. Nu există cerințe speculative.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59" y="914400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2  Appropriate</a:t>
            </a:r>
          </a:p>
          <a:p>
            <a:r>
              <a:rPr sz="1100" b="0">
                <a:solidFill>
                  <a:srgbClr val="BAC2DE"/>
                </a:solidFill>
              </a:rPr>
              <a:t>Nivelul de abstractizare potrivit audienței (stakeholder vs. developer).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26679" y="914400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3  Unambiguous</a:t>
            </a:r>
          </a:p>
          <a:p>
            <a:r>
              <a:rPr sz="1100" b="0">
                <a:solidFill>
                  <a:srgbClr val="BAC2DE"/>
                </a:solidFill>
              </a:rPr>
              <a:t>O singură interpretare posibilă. Niciun termen vag fără definiție.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450591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4  Complete</a:t>
            </a:r>
          </a:p>
          <a:p>
            <a:r>
              <a:rPr sz="1100" b="0">
                <a:solidFill>
                  <a:srgbClr val="BAC2DE"/>
                </a:solidFill>
              </a:rPr>
              <a:t>Declarat complet — nu necesită informații externe pentru înțelegere.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2450591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5  Singular</a:t>
            </a:r>
          </a:p>
          <a:p>
            <a:r>
              <a:rPr sz="1100" b="0">
                <a:solidFill>
                  <a:srgbClr val="BAC2DE"/>
                </a:solidFill>
              </a:rPr>
              <a:t>O singură capabilitate sau condiție per cerință. Nu 'și A și B'.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450591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6  Feasible</a:t>
            </a:r>
          </a:p>
          <a:p>
            <a:r>
              <a:rPr sz="1100" b="0">
                <a:solidFill>
                  <a:srgbClr val="BAC2DE"/>
                </a:solidFill>
              </a:rPr>
              <a:t>Realizabil tehnic și economic în constrângerile proiectului.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986783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7  Verifiable</a:t>
            </a:r>
          </a:p>
          <a:p>
            <a:r>
              <a:rPr sz="1100" b="0">
                <a:solidFill>
                  <a:srgbClr val="BAC2DE"/>
                </a:solidFill>
              </a:rPr>
              <a:t>Poate fi verificat prin test, inspecție, analiză sau demonstrație.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986783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8  Correct</a:t>
            </a:r>
          </a:p>
          <a:p>
            <a:r>
              <a:rPr sz="1100" b="0">
                <a:solidFill>
                  <a:srgbClr val="BAC2DE"/>
                </a:solidFill>
              </a:rPr>
              <a:t>Reflectă fidel nevoia stakeholderului, fără distorsionare.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86783"/>
            <a:ext cx="3566160" cy="137160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9E2AF"/>
                </a:solidFill>
              </a:rPr>
              <a:t>9  Conforming</a:t>
            </a:r>
          </a:p>
          <a:p>
            <a:r>
              <a:rPr sz="1100" b="0">
                <a:solidFill>
                  <a:srgbClr val="BAC2DE"/>
                </a:solidFill>
              </a:rPr>
              <a:t>Respectă un template și o convenție de stilizare (ex: 'shall').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9B4FA"/>
                </a:solidFill>
              </a:rPr>
              <a:t>Format ACTUAL — requirement-manager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9B4FA"/>
                </a:solidFill>
              </a:rPr>
              <a:t>Ce caracteristici acoperă?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5577840" cy="5943600"/>
          </a:xfrm>
          <a:prstGeom prst="rect">
            <a:avLst/>
          </a:prstGeom>
          <a:solidFill>
            <a:srgbClr val="181828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---
id: AUTH-LOGIN-001
status: confirmed
layer: feature
owner: Alex
depends_on: [CORE-SESSION-002]
---
# User login
&gt; WHY: users need to reach their data securely.
## WHAT — Contract (normative)
- It shall accept email + password and return
  a session token.
- It shall reject unknown email with a generic
  error (no user enumeration).
## HOW — Acceptance (= tests)
AC-1
  Given  a registered user
  When   correct credentials are submitted
  Then   a session token is returned
AC-2
  Given  an unknown email
  When   login is attempted
  Then   a generic error is returned, HTTP 401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685800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6E3A1"/>
                </a:solidFill>
              </a:rPr>
              <a:t>✓  Necessary     — WHY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069848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6E3A1"/>
                </a:solidFill>
              </a:rPr>
              <a:t>✓  Unambiguous   — 'shall' phrasing ghidată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53895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6E3A1"/>
                </a:solidFill>
              </a:rPr>
              <a:t>✓  Singular      — un bullet = o regulă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37943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6E3A1"/>
                </a:solidFill>
              </a:rPr>
              <a:t>✓  Verifiable    — AC Given/When/Then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21991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6E3A1"/>
                </a:solidFill>
              </a:rPr>
              <a:t>✓  Conforming    — template impus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06039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6E3A1"/>
                </a:solidFill>
              </a:rPr>
              <a:t>✓  Complete (parțial) — contract normativ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990087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Appropriate   — lipsă nivel de abstractizare explicit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74135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Feasible      — nu există câmp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758183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Correct       — nu există sursă/stakeholder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142231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Priority      — lipsă (MoSCoW / numeric)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526279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Source        — lipsă (cine a cerut-o)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910327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Rationale per statement — WHY e global, nu per bullet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294375"/>
            <a:ext cx="5760720" cy="347472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8BA8"/>
                </a:solidFill>
              </a:rPr>
              <a:t>✗  Version/Baseline — lipsă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724143"/>
            <a:ext cx="5760720" cy="36576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E2AF"/>
                </a:solidFill>
              </a:rPr>
              <a:t>Acoperire: 6/13  ≈ 46%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9B4FA"/>
                </a:solidFill>
              </a:rPr>
              <a:t>Format IEEE 29148 ≥80% — cum ar arăta requirement-ul extins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7772400" cy="5943600"/>
          </a:xfrm>
          <a:prstGeom prst="rect">
            <a:avLst/>
          </a:prstGeom>
          <a:solidFill>
            <a:srgbClr val="181828"/>
          </a:solidFill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A6E3A1"/>
                </a:solidFill>
              </a:rPr>
              <a:t>---
id:           AUTH-LOGIN-001
title:        User login with email/password
status:       confirmed
layer:        feature
owner:        Alex
source:       Product Owner — sprint planning 2026-05-01    # ← NOU: cine a cerut-o
priority:     must                                          # ← NOU: MoSCoW
feasibility:  high                                         # ← NOU: realizabil tehnic
depends_on:   [CORE-SESSION-002]
---
# User login
&gt; WHY: users need to reach their own data securely.
&gt; SOURCE RATIONALE: legal requires session-token auth
&gt;   per compliance spec v2.3, section 4.1.           # ← NOU: rationale legat de sursă
## WHAT — Contract (normative)
- [AUTH-LOGIN-001-S1] The system shall accept a registered
  user's email address and password and return a signed
  session token within 2 seconds.
  Rationale: 2s SLA derived from UX research —         # ← NOU: rationale per statement
  abandonment rate spikes above 2s.
- [AUTH-LOGIN-001-S2] The system shall reject an unregistered
  email with a generic error message (HTTP 401) without
  revealing whether the email is registered.
  Rationale: prevents user enumeration attacks (OWASP A2).
## WHAT — Assumptions &amp; constraints            # ← NOU: secțiune IEEE 29148 §9.5
- Assumes SMTP delivery is available for password reset.
- Constrained to password auth only (OAuth deferred to v2).
## HOW — Acceptance (= tests)
AC-1  [verifiable by: automated test]          # ← NOU: metoda de verificare
  Given  a registered user with correct credentials
  When   POST /auth/login is called
  Then   HTTP 200, body contains signed JWT, latency &lt; 2s
AC-2  [verifiable by: automated test]
  Given  an email not in the user table
  When   POST /auth/login is called
  Then   HTTP 401, body = generic error, no user-specific info
AC-3  [verifiable by: penetration test]
  Given  an attacker enumerating emails
  When   100 login attempts with known/unknown emails
  Then   response time and body are indistinguishable
## Traceability                                # ← NOU: trasabilitate upstream
- Upstream:   stakeholder-need SN-004 (secure access)
- Downstream: CORE-SESSION-002 (auto-linked via depends_on)
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685800"/>
            <a:ext cx="3657600" cy="1042416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9E2AF"/>
                </a:solidFill>
              </a:rPr>
              <a:t>NOU — câmpuri frontmatter</a:t>
            </a:r>
          </a:p>
          <a:p>
            <a:r>
              <a:rPr sz="1000" b="0">
                <a:solidFill>
                  <a:srgbClr val="BAC2DE"/>
                </a:solidFill>
              </a:rPr>
              <a:t>  • source: — cine a cerut cerința</a:t>
            </a:r>
          </a:p>
          <a:p>
            <a:r>
              <a:rPr sz="1000" b="0">
                <a:solidFill>
                  <a:srgbClr val="BAC2DE"/>
                </a:solidFill>
              </a:rPr>
              <a:t>  • priority: must/should/could</a:t>
            </a:r>
          </a:p>
          <a:p>
            <a:r>
              <a:rPr sz="1000" b="0">
                <a:solidFill>
                  <a:srgbClr val="BAC2DE"/>
                </a:solidFill>
              </a:rPr>
              <a:t>  • feasibility: high/medium/low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837944"/>
            <a:ext cx="3657600" cy="7863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9E2AF"/>
                </a:solidFill>
              </a:rPr>
              <a:t>NOU — rationale per statement</a:t>
            </a:r>
          </a:p>
          <a:p>
            <a:r>
              <a:rPr sz="1000" b="0">
                <a:solidFill>
                  <a:srgbClr val="BAC2DE"/>
                </a:solidFill>
              </a:rPr>
              <a:t>  • Fiecare bullet 'shall' are un 'Rationale:' inline</a:t>
            </a:r>
          </a:p>
          <a:p>
            <a:r>
              <a:rPr sz="1000" b="0">
                <a:solidFill>
                  <a:srgbClr val="BAC2DE"/>
                </a:solidFill>
              </a:rPr>
              <a:t>  • Explică DE CE acel comportament 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734056"/>
            <a:ext cx="3657600" cy="7863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9E2AF"/>
                </a:solidFill>
              </a:rPr>
              <a:t>NOU — Assumptions &amp; constraints</a:t>
            </a:r>
          </a:p>
          <a:p>
            <a:r>
              <a:rPr sz="1000" b="0">
                <a:solidFill>
                  <a:srgbClr val="BAC2DE"/>
                </a:solidFill>
              </a:rPr>
              <a:t>  • Secțiune dedicată pentru presupuneri</a:t>
            </a:r>
          </a:p>
          <a:p>
            <a:r>
              <a:rPr sz="1000" b="0">
                <a:solidFill>
                  <a:srgbClr val="BAC2DE"/>
                </a:solidFill>
              </a:rPr>
              <a:t>  • și limite de scop ale cerinței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630168"/>
            <a:ext cx="3657600" cy="1042416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9E2AF"/>
                </a:solidFill>
              </a:rPr>
              <a:t>NOU — metoda de verificare pe AC</a:t>
            </a:r>
          </a:p>
          <a:p>
            <a:r>
              <a:rPr sz="1000" b="0">
                <a:solidFill>
                  <a:srgbClr val="BAC2DE"/>
                </a:solidFill>
              </a:rPr>
              <a:t>  • [verifiable by: automated test]</a:t>
            </a:r>
          </a:p>
          <a:p>
            <a:r>
              <a:rPr sz="1000" b="0">
                <a:solidFill>
                  <a:srgbClr val="BAC2DE"/>
                </a:solidFill>
              </a:rPr>
              <a:t>  • [verifiable by: penetration test]</a:t>
            </a:r>
          </a:p>
          <a:p>
            <a:r>
              <a:rPr sz="1000" b="0">
                <a:solidFill>
                  <a:srgbClr val="BAC2DE"/>
                </a:solidFill>
              </a:rPr>
              <a:t>  • [verifiable by: inspection]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782312"/>
            <a:ext cx="3657600" cy="7863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9E2AF"/>
                </a:solidFill>
              </a:rPr>
              <a:t>NOU — Traceability upstream</a:t>
            </a:r>
          </a:p>
          <a:p>
            <a:r>
              <a:rPr sz="1000" b="0">
                <a:solidFill>
                  <a:srgbClr val="BAC2DE"/>
                </a:solidFill>
              </a:rPr>
              <a:t>  • Link la nevoia stakeholderului (SN-xxx)</a:t>
            </a:r>
          </a:p>
          <a:p>
            <a:r>
              <a:rPr sz="1000" b="0">
                <a:solidFill>
                  <a:srgbClr val="BAC2DE"/>
                </a:solidFill>
              </a:rPr>
              <a:t>  • Nu doar downstream la cod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9B4FA"/>
                </a:solidFill>
              </a:rPr>
              <a:t>Gap Analysis — ce adaugă IEEE 29148 față de formatul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3108960" cy="365760"/>
          </a:xfrm>
          <a:prstGeom prst="rect">
            <a:avLst/>
          </a:prstGeom>
          <a:solidFill>
            <a:srgbClr val="89B4FA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1E2E"/>
                </a:solidFill>
              </a:rPr>
              <a:t>Caracteristică IEEE 29148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685800"/>
            <a:ext cx="2377440" cy="365760"/>
          </a:xfrm>
          <a:prstGeom prst="rect">
            <a:avLst/>
          </a:prstGeom>
          <a:solidFill>
            <a:srgbClr val="89B4FA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1E2E"/>
                </a:solidFill>
              </a:rPr>
              <a:t>Format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685800"/>
            <a:ext cx="3474720" cy="365760"/>
          </a:xfrm>
          <a:prstGeom prst="rect">
            <a:avLst/>
          </a:prstGeom>
          <a:solidFill>
            <a:srgbClr val="89B4FA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1E2E"/>
                </a:solidFill>
              </a:rPr>
              <a:t>Format ≥80%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685800"/>
            <a:ext cx="1920240" cy="365760"/>
          </a:xfrm>
          <a:prstGeom prst="rect">
            <a:avLst/>
          </a:prstGeom>
          <a:solidFill>
            <a:srgbClr val="89B4FA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E1E2E"/>
                </a:solidFill>
              </a:rPr>
              <a:t>Efort adăugare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310896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Necessary (WHY)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115568"/>
            <a:ext cx="23774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secțiunea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115568"/>
            <a:ext cx="347472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identic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1115568"/>
            <a:ext cx="19202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AC2DE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63040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Singular (un bullet = 1 req)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ghidat prin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463040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+ lint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463040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1810512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Unambiguous ('shall')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810512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ghidat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810512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+ lint shall-check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10512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157984"/>
            <a:ext cx="310896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Verifiable (AC G/W/T)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157984"/>
            <a:ext cx="23774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AC Given/When/Then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157984"/>
            <a:ext cx="347472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+ [verifiable by: method]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157984"/>
            <a:ext cx="19202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505456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Conforming (template)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505456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template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505456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identic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505456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AC2DE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852927"/>
            <a:ext cx="310896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Complete (contract)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852927"/>
            <a:ext cx="23774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parțial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852927"/>
            <a:ext cx="347472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+ Assumptions &amp;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52927"/>
            <a:ext cx="19202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9E2AF"/>
                </a:solidFill>
              </a:rPr>
              <a:t>mediu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200399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Correct — Source/Stakeholder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200399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lipsă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200399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câmp source: în frontmatter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200399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3547871"/>
            <a:ext cx="310896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Priority (MoSCoW)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3547871"/>
            <a:ext cx="23774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lipsă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547871"/>
            <a:ext cx="347472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câmp priority: în frontmatter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3547871"/>
            <a:ext cx="19202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895344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Feasible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895344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lipsă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3895344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câmp feasibility: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895344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4242816"/>
            <a:ext cx="310896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Rationale per statement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242816"/>
            <a:ext cx="23774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doar WHY global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4242816"/>
            <a:ext cx="347472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Rationale: inline per bullet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4242816"/>
            <a:ext cx="19202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9E2AF"/>
                </a:solidFill>
              </a:rPr>
              <a:t>mediu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590288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Traceability upstream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4590288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doar downstream (cod)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590288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secțiune Traceability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4590288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9E2AF"/>
                </a:solidFill>
              </a:rPr>
              <a:t>mediu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937759"/>
            <a:ext cx="310896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Verif. method per AC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4937759"/>
            <a:ext cx="23774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lipsă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4937759"/>
            <a:ext cx="347472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[verifiable by: x] pe AC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4937759"/>
            <a:ext cx="1920240" cy="329184"/>
          </a:xfrm>
          <a:prstGeom prst="rect">
            <a:avLst/>
          </a:prstGeom>
          <a:solidFill>
            <a:srgbClr val="28293B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5285231"/>
            <a:ext cx="310896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Assumptions &amp; constraints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0" y="5285231"/>
            <a:ext cx="23774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38BA8"/>
                </a:solidFill>
              </a:rPr>
              <a:t>✗ lipsă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52160" y="5285231"/>
            <a:ext cx="347472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✓ secțiune dedicată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285231"/>
            <a:ext cx="1920240" cy="329184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6E3A1"/>
                </a:solidFill>
              </a:rPr>
              <a:t>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9B4FA"/>
                </a:solidFill>
              </a:rPr>
              <a:t>Concluzie și recomandare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3749039" cy="196596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A6E3A1"/>
                </a:solidFill>
              </a:rPr>
              <a:t>Ce ai deja (≈46%)</a:t>
            </a:r>
          </a:p>
          <a:p>
            <a:r>
              <a:rPr sz="1100" b="0">
                <a:solidFill>
                  <a:srgbClr val="BAC2DE"/>
                </a:solidFill>
              </a:rPr>
              <a:t>  • Template cu secțiuni WHY / WHAT / HOW / WHERE</a:t>
            </a:r>
          </a:p>
          <a:p>
            <a:r>
              <a:rPr sz="1100" b="0">
                <a:solidFill>
                  <a:srgbClr val="BAC2DE"/>
                </a:solidFill>
              </a:rPr>
              <a:t>  • Phrasing 'shall' ghidat în comentarii</a:t>
            </a:r>
          </a:p>
          <a:p>
            <a:r>
              <a:rPr sz="1100" b="0">
                <a:solidFill>
                  <a:srgbClr val="BAC2DE"/>
                </a:solidFill>
              </a:rPr>
              <a:t>  • AC în format Given/When/Then</a:t>
            </a:r>
          </a:p>
          <a:p>
            <a:r>
              <a:rPr sz="1100" b="0">
                <a:solidFill>
                  <a:srgbClr val="BAC2DE"/>
                </a:solidFill>
              </a:rPr>
              <a:t>  • id, status, layer, owner, depends_on în frontmatter</a:t>
            </a:r>
          </a:p>
          <a:p>
            <a:r>
              <a:rPr sz="1100" b="0">
                <a:solidFill>
                  <a:srgbClr val="BAC2DE"/>
                </a:solidFill>
              </a:rPr>
              <a:t>  • lint pentru lizibilitate și structură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51959" y="777240"/>
            <a:ext cx="3749039" cy="2606039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9E2AF"/>
                </a:solidFill>
              </a:rPr>
              <a:t>Ce lipsește pentru ≥80%</a:t>
            </a:r>
          </a:p>
          <a:p>
            <a:r>
              <a:rPr sz="1100" b="0">
                <a:solidFill>
                  <a:srgbClr val="BAC2DE"/>
                </a:solidFill>
              </a:rPr>
              <a:t>  • source: (cine a cerut cerința — stakeholder)</a:t>
            </a:r>
          </a:p>
          <a:p>
            <a:r>
              <a:rPr sz="1100" b="0">
                <a:solidFill>
                  <a:srgbClr val="BAC2DE"/>
                </a:solidFill>
              </a:rPr>
              <a:t>  • priority: must / should / could / won't</a:t>
            </a:r>
          </a:p>
          <a:p>
            <a:r>
              <a:rPr sz="1100" b="0">
                <a:solidFill>
                  <a:srgbClr val="BAC2DE"/>
                </a:solidFill>
              </a:rPr>
              <a:t>  • feasibility: high / medium / low</a:t>
            </a:r>
          </a:p>
          <a:p>
            <a:r>
              <a:rPr sz="1100" b="0">
                <a:solidFill>
                  <a:srgbClr val="BAC2DE"/>
                </a:solidFill>
              </a:rPr>
              <a:t>  • Rationale per statement (nu doar WHY global)</a:t>
            </a:r>
          </a:p>
          <a:p>
            <a:r>
              <a:rPr sz="1100" b="0">
                <a:solidFill>
                  <a:srgbClr val="BAC2DE"/>
                </a:solidFill>
              </a:rPr>
              <a:t>  • Traceability upstream (link la nevoia stakeholderului)</a:t>
            </a:r>
          </a:p>
          <a:p>
            <a:r>
              <a:rPr sz="1100" b="0">
                <a:solidFill>
                  <a:srgbClr val="BAC2DE"/>
                </a:solidFill>
              </a:rPr>
              <a:t>  • [verifiable by: method] pe fiecare AC</a:t>
            </a:r>
          </a:p>
          <a:p>
            <a:r>
              <a:rPr sz="1100" b="0">
                <a:solidFill>
                  <a:srgbClr val="BAC2DE"/>
                </a:solidFill>
              </a:rPr>
              <a:t>  • Secțiune Assumptions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77240"/>
            <a:ext cx="3749039" cy="196596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9B4FA"/>
                </a:solidFill>
              </a:rPr>
              <a:t>Efort estimat</a:t>
            </a:r>
          </a:p>
          <a:p>
            <a:r>
              <a:rPr sz="1100" b="0">
                <a:solidFill>
                  <a:srgbClr val="BAC2DE"/>
                </a:solidFill>
              </a:rPr>
              <a:t>  • 6 câmpuri noi în frontmatter   → ~30 min (template + lint)</a:t>
            </a:r>
          </a:p>
          <a:p>
            <a:r>
              <a:rPr sz="1100" b="0">
                <a:solidFill>
                  <a:srgbClr val="BAC2DE"/>
                </a:solidFill>
              </a:rPr>
              <a:t>  • Rationale inline per bullet    → ~1h (template + ghid)</a:t>
            </a:r>
          </a:p>
          <a:p>
            <a:r>
              <a:rPr sz="1100" b="0">
                <a:solidFill>
                  <a:srgbClr val="BAC2DE"/>
                </a:solidFill>
              </a:rPr>
              <a:t>  • Traceability upstream          → ~2h (nou câmp + link checker)</a:t>
            </a:r>
          </a:p>
          <a:p>
            <a:r>
              <a:rPr sz="1100" b="0">
                <a:solidFill>
                  <a:srgbClr val="BAC2DE"/>
                </a:solidFill>
              </a:rPr>
              <a:t>  • [verifiable by] pe AC          → ~1h (template + lint check)</a:t>
            </a:r>
          </a:p>
          <a:p>
            <a:r>
              <a:rPr sz="1100" b="0">
                <a:solidFill>
                  <a:srgbClr val="BAC2DE"/>
                </a:solidFill>
              </a:rPr>
              <a:t>  • Total: ~4-5h implementare      → de la 46% la ≈83% conformanță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AC2DE"/>
                </a:solidFill>
              </a:rPr>
              <a:t>Senate verdict: MODIFY — revendicarea 'IEEE 29148-aligned' este prematură la 46%. La ≥80% (după ~5h efort) devine legitimă cu un disclaimer explicit pe ce se verifică.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